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3" r:id="rId6"/>
    <p:sldId id="312" r:id="rId7"/>
    <p:sldId id="311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66" d="100"/>
          <a:sy n="66" d="100"/>
        </p:scale>
        <p:origin x="1253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513" y="1562793"/>
            <a:ext cx="6436733" cy="2543691"/>
          </a:xfrm>
        </p:spPr>
        <p:txBody>
          <a:bodyPr>
            <a:normAutofit fontScale="90000"/>
          </a:bodyPr>
          <a:lstStyle/>
          <a:p>
            <a:r>
              <a:rPr lang="en-IN" sz="6600" dirty="0"/>
              <a:t>Mutual Fund Analytics Project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5037513"/>
            <a:ext cx="6269347" cy="656724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Analytics, Risk &amp; Performance Dashboard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20EA5C-30F8-A49D-2C1D-415475BC551C}"/>
              </a:ext>
            </a:extLst>
          </p:cNvPr>
          <p:cNvSpPr txBox="1"/>
          <p:nvPr/>
        </p:nvSpPr>
        <p:spPr>
          <a:xfrm>
            <a:off x="2268638" y="640030"/>
            <a:ext cx="76971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F2BEE-C2C9-D5B0-FD16-B24BE597F02D}"/>
              </a:ext>
            </a:extLst>
          </p:cNvPr>
          <p:cNvSpPr txBox="1"/>
          <p:nvPr/>
        </p:nvSpPr>
        <p:spPr>
          <a:xfrm>
            <a:off x="1134319" y="2298501"/>
            <a:ext cx="8565266" cy="2459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investor behavior,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Fund performance,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metrics,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an interactive dashboard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88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CE7C35-9845-62DE-7FC8-455CE16BDD95}"/>
              </a:ext>
            </a:extLst>
          </p:cNvPr>
          <p:cNvSpPr txBox="1"/>
          <p:nvPr/>
        </p:nvSpPr>
        <p:spPr>
          <a:xfrm>
            <a:off x="3048965" y="700797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E081E-4EF1-FE48-0EC8-4A803F43FF07}"/>
              </a:ext>
            </a:extLst>
          </p:cNvPr>
          <p:cNvSpPr txBox="1"/>
          <p:nvPr/>
        </p:nvSpPr>
        <p:spPr>
          <a:xfrm>
            <a:off x="1228845" y="1746231"/>
            <a:ext cx="9697656" cy="2950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AMFI Daily NAV TXT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AMFI Historical NAV API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mfapi.in REST API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AMFI Monthly Notes PDF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NSE/BSE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Bhavcopy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Pre-packaged CSV datasets provided with this project</a:t>
            </a:r>
          </a:p>
        </p:txBody>
      </p:sp>
    </p:spTree>
    <p:extLst>
      <p:ext uri="{BB962C8B-B14F-4D97-AF65-F5344CB8AC3E}">
        <p14:creationId xmlns:p14="http://schemas.microsoft.com/office/powerpoint/2010/main" val="507178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55A57-49B6-0C73-FCCC-F5D3759360C8}"/>
              </a:ext>
            </a:extLst>
          </p:cNvPr>
          <p:cNvSpPr txBox="1"/>
          <p:nvPr/>
        </p:nvSpPr>
        <p:spPr>
          <a:xfrm>
            <a:off x="2667001" y="904301"/>
            <a:ext cx="60932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04DA0-74A9-EA2E-7C0B-9D8831FC62C9}"/>
              </a:ext>
            </a:extLst>
          </p:cNvPr>
          <p:cNvSpPr txBox="1"/>
          <p:nvPr/>
        </p:nvSpPr>
        <p:spPr>
          <a:xfrm>
            <a:off x="2933586" y="2271861"/>
            <a:ext cx="55600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 Layer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&amp; Reporting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81D411-214D-70B2-3F2D-DAF4868E5317}"/>
              </a:ext>
            </a:extLst>
          </p:cNvPr>
          <p:cNvCxnSpPr/>
          <p:nvPr/>
        </p:nvCxnSpPr>
        <p:spPr>
          <a:xfrm>
            <a:off x="5713614" y="2702052"/>
            <a:ext cx="0" cy="2880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2F3CE7-882F-17FE-5F0D-7B8CFF513997}"/>
              </a:ext>
            </a:extLst>
          </p:cNvPr>
          <p:cNvCxnSpPr>
            <a:cxnSpLocks/>
          </p:cNvCxnSpPr>
          <p:nvPr/>
        </p:nvCxnSpPr>
        <p:spPr>
          <a:xfrm>
            <a:off x="5719848" y="3566681"/>
            <a:ext cx="0" cy="2880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81BD34-B840-59EC-0502-63FD61FFDAAE}"/>
              </a:ext>
            </a:extLst>
          </p:cNvPr>
          <p:cNvCxnSpPr/>
          <p:nvPr/>
        </p:nvCxnSpPr>
        <p:spPr>
          <a:xfrm>
            <a:off x="5713614" y="4332732"/>
            <a:ext cx="0" cy="2880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624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FE9F0A-1559-FCE8-0FE4-236BE1BDDA9E}"/>
              </a:ext>
            </a:extLst>
          </p:cNvPr>
          <p:cNvSpPr txBox="1"/>
          <p:nvPr/>
        </p:nvSpPr>
        <p:spPr>
          <a:xfrm>
            <a:off x="3048965" y="411430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E8921-DB37-8CF7-08DA-86DD0F2E91B4}"/>
              </a:ext>
            </a:extLst>
          </p:cNvPr>
          <p:cNvSpPr txBox="1"/>
          <p:nvPr/>
        </p:nvSpPr>
        <p:spPr>
          <a:xfrm>
            <a:off x="1877993" y="1811966"/>
            <a:ext cx="4557531" cy="2049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Investor distribution</a:t>
            </a:r>
          </a:p>
          <a:p>
            <a:pPr marL="285750" indent="-285750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SIP trends</a:t>
            </a:r>
          </a:p>
          <a:p>
            <a:pPr marL="285750" indent="-285750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Fund allocation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B6C9E-A931-6F5B-768A-68721E2EF921}"/>
              </a:ext>
            </a:extLst>
          </p:cNvPr>
          <p:cNvSpPr txBox="1"/>
          <p:nvPr/>
        </p:nvSpPr>
        <p:spPr>
          <a:xfrm>
            <a:off x="7149296" y="1811966"/>
            <a:ext cx="5187386" cy="2049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Return distributions</a:t>
            </a:r>
          </a:p>
          <a:p>
            <a:pPr marL="285750" indent="-285750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Correlation analysis</a:t>
            </a:r>
          </a:p>
          <a:p>
            <a:pPr marL="285750" indent="-285750">
              <a:lnSpc>
                <a:spcPct val="2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 Risk exploration</a:t>
            </a:r>
          </a:p>
        </p:txBody>
      </p:sp>
    </p:spTree>
    <p:extLst>
      <p:ext uri="{BB962C8B-B14F-4D97-AF65-F5344CB8AC3E}">
        <p14:creationId xmlns:p14="http://schemas.microsoft.com/office/powerpoint/2010/main" val="1515867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2D621F-0DF8-818F-5B65-5F6ED7D775AD}"/>
              </a:ext>
            </a:extLst>
          </p:cNvPr>
          <p:cNvSpPr txBox="1"/>
          <p:nvPr/>
        </p:nvSpPr>
        <p:spPr>
          <a:xfrm>
            <a:off x="2384385" y="272533"/>
            <a:ext cx="75003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D58E4-55F1-1D86-600C-4D7C77912C29}"/>
              </a:ext>
            </a:extLst>
          </p:cNvPr>
          <p:cNvSpPr txBox="1"/>
          <p:nvPr/>
        </p:nvSpPr>
        <p:spPr>
          <a:xfrm>
            <a:off x="1770927" y="1701478"/>
            <a:ext cx="10104698" cy="343581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CAGR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Alpha, Beta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 err="1"/>
              <a:t>VaR</a:t>
            </a:r>
            <a:endParaRPr lang="en-IN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CVaR,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Rolling Sharpe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Drawdown Analysis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62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A86B2A-3C53-6CC4-6D85-227411BDD548}"/>
              </a:ext>
            </a:extLst>
          </p:cNvPr>
          <p:cNvSpPr txBox="1"/>
          <p:nvPr/>
        </p:nvSpPr>
        <p:spPr>
          <a:xfrm>
            <a:off x="3048965" y="376705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F7598-E66C-8C2E-C649-98EEAB418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2516" y="1296365"/>
            <a:ext cx="12813174" cy="483089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0452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6785A1-2E10-4025-1464-A209FD26E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6396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352F8-77D5-E9A0-2C21-E66C71DB4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90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87EBF3-48B3-205B-C8A5-E5BC1633B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6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F3EC6A-9CF5-2229-77B5-C773D0968019}"/>
              </a:ext>
            </a:extLst>
          </p:cNvPr>
          <p:cNvSpPr txBox="1"/>
          <p:nvPr/>
        </p:nvSpPr>
        <p:spPr>
          <a:xfrm>
            <a:off x="3048965" y="538751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EFFFBC-2474-7677-F939-52378566E4D8}"/>
              </a:ext>
            </a:extLst>
          </p:cNvPr>
          <p:cNvSpPr txBox="1"/>
          <p:nvPr/>
        </p:nvSpPr>
        <p:spPr>
          <a:xfrm>
            <a:off x="925975" y="2060294"/>
            <a:ext cx="8215131" cy="222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funds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insights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cohort behavior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706310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9F4C91-1D4F-D3B0-071B-64658FE18460}"/>
              </a:ext>
            </a:extLst>
          </p:cNvPr>
          <p:cNvSpPr txBox="1"/>
          <p:nvPr/>
        </p:nvSpPr>
        <p:spPr>
          <a:xfrm>
            <a:off x="2734518" y="1129059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BF9AB-E4D2-4834-B80E-B3FA285269E1}"/>
              </a:ext>
            </a:extLst>
          </p:cNvPr>
          <p:cNvSpPr txBox="1"/>
          <p:nvPr/>
        </p:nvSpPr>
        <p:spPr>
          <a:xfrm>
            <a:off x="4340506" y="3198167"/>
            <a:ext cx="3275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55491030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{9D3D3F4B-5A28-43DC-87CE-75AE6EE77AD4}TF427093bb-7ddc-497b-80f4-fe945bcee621ff7241c0_win32-add2936a5c77</Template>
  <TotalTime>74</TotalTime>
  <Words>132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Bookman Old Style</vt:lpstr>
      <vt:lpstr>Calibri</vt:lpstr>
      <vt:lpstr>Courier New</vt:lpstr>
      <vt:lpstr>Franklin Gothic Book</vt:lpstr>
      <vt:lpstr>Times New Roman</vt:lpstr>
      <vt:lpstr>Wingdings</vt:lpstr>
      <vt:lpstr>1_RetrospectVTI</vt:lpstr>
      <vt:lpstr>Mutual Fund Analytics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damera suresh</dc:creator>
  <cp:lastModifiedBy>damera suresh</cp:lastModifiedBy>
  <cp:revision>1</cp:revision>
  <dcterms:created xsi:type="dcterms:W3CDTF">2026-06-13T05:30:48Z</dcterms:created>
  <dcterms:modified xsi:type="dcterms:W3CDTF">2026-06-13T06:45:23Z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